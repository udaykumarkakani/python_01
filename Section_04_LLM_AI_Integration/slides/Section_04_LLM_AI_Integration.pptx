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36C9FF"/>
                </a:solidFill>
              </a:defRPr>
            </a:pPr>
            <a:r>
              <a:t>Section 4</a:t>
            </a:r>
          </a:p>
          <a:p>
            <a:pPr>
              <a:defRPr sz="5000" b="1">
                <a:solidFill>
                  <a:srgbClr val="EAEEF5"/>
                </a:solidFill>
              </a:defRPr>
            </a:pPr>
            <a:r>
              <a:t>LLM Engineering &amp; AI Integration</a:t>
            </a:r>
          </a:p>
          <a:p>
            <a:pPr>
              <a:defRPr sz="2000">
                <a:solidFill>
                  <a:srgbClr val="9AA3B2"/>
                </a:solidFill>
              </a:defRPr>
            </a:pPr>
            <a:r>
              <a:t>7 days · ~1 hour each · non-technical 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7-Day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From 'what is AI' to shipping a small multi-model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1 — What is an LLM? Tokens, temperature, hallucinations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2 — Talking to OpenAI &amp; Claude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3 — Hugging Face hands-on + Together AI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4 — Prompt engineering: role, few-shot, CoT, ReAct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5 — Structured outputs &amp; tool calling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6 — Cost control, streaming &amp; async</a:t>
            </a:r>
          </a:p>
          <a:p>
            <a:pPr>
              <a:spcAft>
                <a:spcPts val="800"/>
              </a:spcAft>
              <a:defRPr sz="2000">
                <a:solidFill>
                  <a:srgbClr val="EAEEF5"/>
                </a:solidFill>
              </a:defRPr>
            </a:pPr>
            <a:r>
              <a:t>• Day 7 — Capstone: your own multi-model AI 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1 — What is an LLM?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Answer: it's very fancy autocomplete.</a:t>
            </a:r>
          </a:p>
        </p:txBody>
      </p:sp>
      <p:pic>
        <p:nvPicPr>
          <p:cNvPr id="5" name="Picture 4" descr="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4985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1 — Tokens: how AI chops up text</a:t>
            </a:r>
          </a:p>
        </p:txBody>
      </p:sp>
      <p:pic>
        <p:nvPicPr>
          <p:cNvPr id="4" name="Picture 3" descr="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11064240" cy="4391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AA3B2"/>
                </a:solidFill>
              </a:defRPr>
            </a:pPr>
            <a:r>
              <a:t>You are billed per token by every AI provider. More tokens = more money.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1 — Other key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Attention — the AI 'looks at' every earlier word to guess the next one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Temperature — a dial from 'boring &amp; factual' (0) to 'creative' (1.5)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Hallucinations — LLMs invent plausible-sounding but false answers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Real-world: ChatGPT, Claude, Copilot, Cursor all use these same ideas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2 — Using AI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OpenAI, Claude, and what Hugging Face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Store keys safely in a .env file — never commit them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OpenAI: client.chat.completions.create(model, messages)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Claude: same idea, system prompt is a separate parameter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Multi-turn: send the whole history each time (LLMs are stateless)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Hugging Face = 'GitHub for AI models'—Day 3 gets hands-on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2 — Real-world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ChatGPT — the app, uses GPT-4o under the hood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GitHub Copilot — OpenAI models fine-tuned on code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Notion AI — runs on Claude 3.5 Sonnet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Cursor (AI code editor) — routes coding to Claude, chit-chat to a cheaper model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You'll build a mini Cursor-style router on Day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3 — Hugging Face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One line of code, thousands of open-source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pipeline('sentiment-analysis')(text) — real AI on your CPU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pipeline('summarization') — turn a page into a paragraph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SentenceTransformer(...) — turn text into vectors (preview of Section 5)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Small models (&lt;1 GB) run great on laptops. Big models (8-70B) don't.</a:t>
            </a:r>
          </a:p>
          <a:p>
            <a:pPr>
              <a:spcAft>
                <a:spcPts val="800"/>
              </a:spcAft>
              <a:defRPr sz="2100">
                <a:solidFill>
                  <a:srgbClr val="EAEEF5"/>
                </a:solidFill>
              </a:defRPr>
            </a:pPr>
            <a:r>
              <a:t>• For big open-source models: Together AI (next slide)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3 — Together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Open-source LLMs via one API. No GPU needed.</a:t>
            </a:r>
          </a:p>
        </p:txBody>
      </p:sp>
      <p:pic>
        <p:nvPicPr>
          <p:cNvPr id="5" name="Picture 4" descr="toge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49742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4 — Prompt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Same model, better prompt = dramatically better answers</a:t>
            </a:r>
          </a:p>
        </p:txBody>
      </p:sp>
      <p:pic>
        <p:nvPicPr>
          <p:cNvPr id="5" name="Picture 4" descr="pro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50837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4 — Two tricks that always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Few-shot: show 2-3 examples of the format you want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Chain of Thought: add the phrase 'Let's think step by step'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Wei et al. (2022) — CoT lifted math accuracy from 18% -&gt; 57%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Real-world: Cursor uses CoT before it edits your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4 — ReAct: the shape of an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Thought -&gt; Action -&gt; Observation -&gt; ... -&gt; Final Answer</a:t>
            </a:r>
          </a:p>
        </p:txBody>
      </p:sp>
      <p:pic>
        <p:nvPicPr>
          <p:cNvPr id="5" name="Picture 4" descr="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47120" cy="55076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5 — Structured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Turn AI text into typed JSON your code can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Ask for JSON in the prompt — works about 90% of the time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response_format={'type':'json_object'} — guarantees valid JSON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Then json.loads() safely — no crashes, no regex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Real-world: Ramp auto-extracts expense data from receipts this 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5 —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How AI apps take real actions in the world</a:t>
            </a:r>
          </a:p>
        </p:txBody>
      </p:sp>
      <p:pic>
        <p:nvPicPr>
          <p:cNvPr id="5" name="Picture 4" descr="tool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37360"/>
            <a:ext cx="11612880" cy="4710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AA3B2"/>
                </a:solidFill>
              </a:defRPr>
            </a:pPr>
            <a:r>
              <a:t>Zapier, Notion AI, Copilot's file edits — all built on this exact pattern.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6 — Cost control</a:t>
            </a:r>
          </a:p>
        </p:txBody>
      </p:sp>
      <p:pic>
        <p:nvPicPr>
          <p:cNvPr id="4" name="Picture 3" descr="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5040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AA3B2"/>
                </a:solidFill>
              </a:defRPr>
            </a:pPr>
            <a:r>
              <a:t>Rule of thumb: output tokens cost 3-5x more than input tokens.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6 — Streaming makes it feel instant</a:t>
            </a:r>
          </a:p>
        </p:txBody>
      </p:sp>
      <p:pic>
        <p:nvPicPr>
          <p:cNvPr id="4" name="Picture 3" descr="st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37360"/>
            <a:ext cx="9784080" cy="4780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AA3B2"/>
                </a:solidFill>
              </a:defRPr>
            </a:pPr>
            <a:r>
              <a:t>Same total time — first word appears in 300 ms instead of 4 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6 — Async: many calls at once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AI calls are 99% waiting. asyncio.gather lets you wait on them together.</a:t>
            </a:r>
          </a:p>
        </p:txBody>
      </p:sp>
      <p:pic>
        <p:nvPicPr>
          <p:cNvPr id="5" name="Picture 4" descr="a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37360"/>
            <a:ext cx="9784080" cy="47808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7 — Multi-model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1858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6C9FF"/>
                </a:solidFill>
              </a:defRPr>
            </a:pPr>
            <a:r>
              <a:t>One assistant, three providers, right model per request</a:t>
            </a:r>
          </a:p>
        </p:txBody>
      </p:sp>
      <p:pic>
        <p:nvPicPr>
          <p:cNvPr id="5" name="Picture 4" descr="rou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11247120" cy="55076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Day 7 — Capstone architecture</a:t>
            </a:r>
          </a:p>
        </p:txBody>
      </p:sp>
      <p:pic>
        <p:nvPicPr>
          <p:cNvPr id="4" name="Picture 3" descr="cap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11430000" cy="56071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EAEEF5"/>
                </a:solidFill>
              </a:defRPr>
            </a:pPr>
            <a:r>
              <a:t>What you can build after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AI chatbots with per-user budgets and provider fallback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Structured extraction from receipts, resumes, medical notes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AI agents that call your APIs via tool calling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Private assistants that stay on open-source models for sensitive data</a:t>
            </a:r>
          </a:p>
          <a:p>
            <a:pPr>
              <a:spcAft>
                <a:spcPts val="800"/>
              </a:spcAft>
              <a:defRPr sz="2200">
                <a:solidFill>
                  <a:srgbClr val="EAEEF5"/>
                </a:solidFill>
              </a:defRPr>
            </a:pPr>
            <a:r>
              <a:t>• Anything that needs to be fast, cheap AND smart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AEEF5"/>
                </a:solidFill>
              </a:defRPr>
            </a:pPr>
            <a:r>
              <a:t>Section 4 complete.</a:t>
            </a:r>
          </a:p>
          <a:p>
            <a:pPr>
              <a:defRPr sz="2200">
                <a:solidFill>
                  <a:srgbClr val="36C9FF"/>
                </a:solidFill>
              </a:defRPr>
            </a:pPr>
            <a:r>
              <a:t>Next — Section 5: Embeddings, Vector Search &amp; Semantic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