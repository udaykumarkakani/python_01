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26280" y="7772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3" name="Text 1"/>
          <p:cNvSpPr/>
          <p:nvPr/>
        </p:nvSpPr>
        <p:spPr>
          <a:xfrm>
            <a:off x="4526280" y="777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577840" y="1600200"/>
            <a:ext cx="1005840" cy="10058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5" name="Image 0" descr="/sessions/eager-wizardly-keller/mnt/outputs/build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2" y="18416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8803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3703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Python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371600" y="44348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explained through a real-world, everyday example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" y="53492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Object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50592" y="53492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2" name="Text 9"/>
          <p:cNvSpPr/>
          <p:nvPr/>
        </p:nvSpPr>
        <p:spPr>
          <a:xfrm>
            <a:off x="2450592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06824" y="53492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4" name="Text 11"/>
          <p:cNvSpPr/>
          <p:nvPr/>
        </p:nvSpPr>
        <p:spPr>
          <a:xfrm>
            <a:off x="4306824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63056" y="53492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6" name="Text 13"/>
          <p:cNvSpPr/>
          <p:nvPr/>
        </p:nvSpPr>
        <p:spPr>
          <a:xfrm>
            <a:off x="6163056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19288" y="53492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8" name="Text 15"/>
          <p:cNvSpPr/>
          <p:nvPr/>
        </p:nvSpPr>
        <p:spPr>
          <a:xfrm>
            <a:off x="8019288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875520" y="534924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20" name="Text 17"/>
          <p:cNvSpPr/>
          <p:nvPr/>
        </p:nvSpPr>
        <p:spPr>
          <a:xfrm>
            <a:off x="9875520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OOP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stops, each with a concept and a real-time example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" cy="530352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5" name="Image 0" descr="/sessions/eager-wizardly-keller/mnt/outputs/build/icons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4" y="1956084"/>
            <a:ext cx="275783" cy="2757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Basics  </a:t>
            </a:r>
            <a:pPr indent="0" marL="0">
              <a:buNone/>
            </a:pPr>
            <a:r>
              <a:rPr lang="en-US" sz="13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Object, Constructor, Attributes &amp; Methods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587752"/>
            <a:ext cx="530352" cy="530352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8" name="Image 1" descr="/sessions/eager-wizardly-keller/mnt/outputs/build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64" y="2715036"/>
            <a:ext cx="275783" cy="2757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587752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Inheritance  </a:t>
            </a:r>
            <a:pPr indent="0" marL="0">
              <a:buNone/>
            </a:pPr>
            <a:r>
              <a:rPr lang="en-US" sz="13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types — reusing code across parent &amp; child classes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346704"/>
            <a:ext cx="530352" cy="530352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11" name="Image 2" descr="/sessions/eager-wizardly-keller/mnt/outputs/build/icons/shap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64" y="3473988"/>
            <a:ext cx="275783" cy="2757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346704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Polymorphism  </a:t>
            </a:r>
            <a:pPr indent="0" marL="0">
              <a:buNone/>
            </a:pPr>
            <a:r>
              <a:rPr lang="en-US" sz="13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many behaviors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4105656"/>
            <a:ext cx="530352" cy="530352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4" name="Image 3" descr="/sessions/eager-wizardly-keller/mnt/outputs/build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64" y="4232940"/>
            <a:ext cx="275783" cy="2757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105656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Encapsulation  </a:t>
            </a:r>
            <a:pPr indent="0" marL="0">
              <a:buNone/>
            </a:pPr>
            <a:r>
              <a:rPr lang="en-US" sz="13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data, like a bank account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864608"/>
            <a:ext cx="530352" cy="530352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17" name="Image 4" descr="/sessions/eager-wizardly-keller/mnt/outputs/build/icons/t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64" y="4991892"/>
            <a:ext cx="275783" cy="27578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7320" y="4864608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Abstraction  </a:t>
            </a:r>
            <a:pPr indent="0" marL="0">
              <a:buNone/>
            </a:pPr>
            <a:r>
              <a:rPr lang="en-US" sz="13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complexity, like a TV remote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5623560"/>
            <a:ext cx="530352" cy="530352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0" name="Image 5" descr="/sessions/eager-wizardly-keller/mnt/outputs/build/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364" y="5750844"/>
            <a:ext cx="275783" cy="27578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417320" y="5623560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Advanced OOP  </a:t>
            </a:r>
            <a:pPr indent="0" marL="0">
              <a:buNone/>
            </a:pPr>
            <a:r>
              <a:rPr lang="en-US" sz="13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Overriding, *args/**kwargs, decorators, dunder methods, access modifiers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10241280" y="777240"/>
            <a:ext cx="1051560" cy="105156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4" name="Image 0" descr="/sessions/eager-wizardly-keller/mnt/outputs/build/icons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3654" y="102961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246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starts life as a blueprint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&amp; Object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 — it defines what data and behavior something will have, but builds nothing by itself.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is a real instance built from that blueprint, with its own actual values.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can stamp out many independent objects, just like one design produces many phones.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080760" y="1508760"/>
            <a:ext cx="544068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73368" y="1728216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73368" y="2039112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Smartphone Manufacturing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73368" y="2459736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designs one iPhone blueprint (the class). Every unit that leaves the factory (an object) shares that design but carries its own color and IMEI number.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73368" y="3593592"/>
            <a:ext cx="4855464" cy="2569464"/>
          </a:xfrm>
          <a:prstGeom prst="roundRect">
            <a:avLst>
              <a:gd name="adj" fmla="val 3203"/>
            </a:avLst>
          </a:prstGeom>
          <a:solidFill>
            <a:srgbClr val="0A1930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3739896"/>
            <a:ext cx="439826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Smartphone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iphone1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Smartphone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iphone2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Smartphone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iphone1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"Blue"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iphone2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"Black"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Constructor, Attributes &amp; Methods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 (__init__) runs automatically the instant an object is created, setting its starting state.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are the data stored on an object — its properties.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are the actions an object can perform.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080760" y="1508760"/>
            <a:ext cx="544068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73368" y="1728216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73368" y="2039112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 Phone Setup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73368" y="2459736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on a brand-new phone and entering your name is the constructor running. Your storage size becomes an attribute; taking a photo is a method.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73368" y="3593592"/>
            <a:ext cx="4855464" cy="2569464"/>
          </a:xfrm>
          <a:prstGeom prst="roundRect">
            <a:avLst>
              <a:gd name="adj" fmla="val 3203"/>
            </a:avLst>
          </a:prstGeom>
          <a:solidFill>
            <a:srgbClr val="0A1930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3739896"/>
            <a:ext cx="439826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Smartphone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take_photo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"{self.owner} captured a photo!"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Smartphone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"Uday"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"256GB"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take_photo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10241280" y="777240"/>
            <a:ext cx="1051560" cy="105156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4" name="Image 0" descr="/sessions/eager-wizardly-keller/mnt/outputs/build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3654" y="102961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246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— 5 Types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reuse what their parents already built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Inheritance?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lets a new class reuse the code of an existing class instead of rewriting it from scratch.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class is the parent (base); the new one is the child (derived class).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life: a child inherits traits from their parents without learning them from zero.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080760" y="1508760"/>
            <a:ext cx="544068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73368" y="1728216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73368" y="2039112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Traits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73368" y="2459736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father can drive. His child automatically 'inherits' that ability in code — no need to re-teach the skill.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73368" y="3593592"/>
            <a:ext cx="4855464" cy="2569464"/>
          </a:xfrm>
          <a:prstGeom prst="roundRect">
            <a:avLst>
              <a:gd name="adj" fmla="val 3203"/>
            </a:avLst>
          </a:prstGeom>
          <a:solidFill>
            <a:srgbClr val="0A1930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3739896"/>
            <a:ext cx="439826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 drive"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i="1" dirty="0">
                <a:solidFill>
                  <a:srgbClr val="7C9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inherited, not rewritten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Single, Multiple &amp; Multilevel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3413760" cy="4892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  <a:effectLst>
            <a:outerShdw sx="100000" sy="100000" kx="0" ky="0" algn="bl" rotWithShape="0" blurRad="88900" dist="25400" dir="5400000">
              <a:srgbClr val="0B2545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655064"/>
            <a:ext cx="502920" cy="50292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7" name="Image 1" descr="/sessions/eager-wizardly-keller/mnt/outputs/build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1775765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6192" y="1636776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96112" y="2286000"/>
            <a:ext cx="2901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child class inherits from exactly one parent class.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96112" y="3108960"/>
            <a:ext cx="2901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reuses Employee's name &amp; salary, and adds team_size.</a:t>
            </a:r>
            <a:endParaRPr lang="en-US" sz="1130" dirty="0"/>
          </a:p>
        </p:txBody>
      </p:sp>
      <p:sp>
        <p:nvSpPr>
          <p:cNvPr id="11" name="Shape 7"/>
          <p:cNvSpPr/>
          <p:nvPr/>
        </p:nvSpPr>
        <p:spPr>
          <a:xfrm>
            <a:off x="896112" y="3931920"/>
            <a:ext cx="2901696" cy="2157984"/>
          </a:xfrm>
          <a:prstGeom prst="roundRect">
            <a:avLst>
              <a:gd name="adj" fmla="val 3814"/>
            </a:avLst>
          </a:prstGeom>
          <a:solidFill>
            <a:srgbClr val="0A1930"/>
          </a:solidFill>
          <a:ln/>
        </p:spPr>
      </p:sp>
      <p:sp>
        <p:nvSpPr>
          <p:cNvPr id="12" name="Text 8"/>
          <p:cNvSpPr/>
          <p:nvPr/>
        </p:nvSpPr>
        <p:spPr>
          <a:xfrm>
            <a:off x="1124712" y="4078224"/>
            <a:ext cx="24444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"Working"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373880" y="1417320"/>
            <a:ext cx="3413760" cy="4892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  <a:effectLst>
            <a:outerShdw sx="100000" sy="100000" kx="0" ky="0" algn="bl" rotWithShape="0" blurRad="88900" dist="25400" dir="5400000">
              <a:srgbClr val="0B2545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29912" y="1655064"/>
            <a:ext cx="502920" cy="50292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15" name="Image 2" descr="/sessions/eager-wizardly-keller/mnt/outputs/build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613" y="1775765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69992" y="1636776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4629912" y="2286000"/>
            <a:ext cx="2901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child inherits directly from two or more parents at once.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29912" y="3108960"/>
            <a:ext cx="2901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inherits driving from Father and cooking from Mother, together.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4629912" y="3931920"/>
            <a:ext cx="2901696" cy="2157984"/>
          </a:xfrm>
          <a:prstGeom prst="roundRect">
            <a:avLst>
              <a:gd name="adj" fmla="val 3814"/>
            </a:avLst>
          </a:prstGeom>
          <a:solidFill>
            <a:srgbClr val="0A1930"/>
          </a:solidFill>
          <a:ln/>
        </p:spPr>
      </p:sp>
      <p:sp>
        <p:nvSpPr>
          <p:cNvPr id="20" name="Text 15"/>
          <p:cNvSpPr/>
          <p:nvPr/>
        </p:nvSpPr>
        <p:spPr>
          <a:xfrm>
            <a:off x="4858512" y="4078224"/>
            <a:ext cx="24444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Father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Mother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Father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Mother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107680" y="1417320"/>
            <a:ext cx="3413760" cy="4892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  <a:effectLst>
            <a:outerShdw sx="100000" sy="100000" kx="0" ky="0" algn="bl" rotWithShape="0" blurRad="88900" dist="25400" dir="5400000">
              <a:srgbClr val="0B2545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363712" y="1655064"/>
            <a:ext cx="502920" cy="50292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23" name="Image 3" descr="/sessions/eager-wizardly-keller/mnt/outputs/build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413" y="1775765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03792" y="1636776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Multilevel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8363712" y="2286000"/>
            <a:ext cx="2901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across generations: child inherits from parent, who inherits from grandparent.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363712" y="3108960"/>
            <a:ext cx="2901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Grandparent to Parent to Kid — property and skills pass down the whole line.</a:t>
            </a:r>
            <a:endParaRPr lang="en-US" sz="1130" dirty="0"/>
          </a:p>
        </p:txBody>
      </p:sp>
      <p:sp>
        <p:nvSpPr>
          <p:cNvPr id="27" name="Shape 21"/>
          <p:cNvSpPr/>
          <p:nvPr/>
        </p:nvSpPr>
        <p:spPr>
          <a:xfrm>
            <a:off x="8363712" y="3931920"/>
            <a:ext cx="2901696" cy="2157984"/>
          </a:xfrm>
          <a:prstGeom prst="roundRect">
            <a:avLst>
              <a:gd name="adj" fmla="val 3814"/>
            </a:avLst>
          </a:prstGeom>
          <a:solidFill>
            <a:srgbClr val="0A1930"/>
          </a:solidFill>
          <a:ln/>
        </p:spPr>
      </p:sp>
      <p:sp>
        <p:nvSpPr>
          <p:cNvPr id="28" name="Text 22"/>
          <p:cNvSpPr/>
          <p:nvPr/>
        </p:nvSpPr>
        <p:spPr>
          <a:xfrm>
            <a:off x="8592312" y="4078224"/>
            <a:ext cx="24444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Grandparent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Grandparent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Kid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&amp; Hybrid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5257800" cy="489204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  <a:effectLst>
            <a:outerShdw sx="100000" sy="100000" kx="0" ky="0" algn="bl" rotWithShape="0" blurRad="88900" dist="25400" dir="5400000">
              <a:srgbClr val="0B2545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655064"/>
            <a:ext cx="502920" cy="50292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7" name="Image 1" descr="/sessions/eager-wizardly-keller/mnt/outputs/build/icons/cars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1775765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6192" y="163677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Inheritance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96112" y="2286000"/>
            <a:ext cx="4745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parent class is reused by several different child classes, each customizing its own extras.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96112" y="3108960"/>
            <a:ext cx="4745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is the parent; Car and Bike both inherit its engine() but add their own features.</a:t>
            </a:r>
            <a:endParaRPr lang="en-US" sz="1130" dirty="0"/>
          </a:p>
        </p:txBody>
      </p:sp>
      <p:sp>
        <p:nvSpPr>
          <p:cNvPr id="11" name="Shape 7"/>
          <p:cNvSpPr/>
          <p:nvPr/>
        </p:nvSpPr>
        <p:spPr>
          <a:xfrm>
            <a:off x="896112" y="4023360"/>
            <a:ext cx="4745736" cy="2066544"/>
          </a:xfrm>
          <a:prstGeom prst="roundRect">
            <a:avLst>
              <a:gd name="adj" fmla="val 3982"/>
            </a:avLst>
          </a:prstGeom>
          <a:solidFill>
            <a:srgbClr val="0A1930"/>
          </a:solidFill>
          <a:ln/>
        </p:spPr>
      </p:sp>
      <p:sp>
        <p:nvSpPr>
          <p:cNvPr id="12" name="Text 8"/>
          <p:cNvSpPr/>
          <p:nvPr/>
        </p:nvSpPr>
        <p:spPr>
          <a:xfrm>
            <a:off x="1124712" y="4169664"/>
            <a:ext cx="42885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"Has an engine"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Bike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Bike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263640" y="1417320"/>
            <a:ext cx="5257800" cy="489204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  <a:effectLst>
            <a:outerShdw sx="100000" sy="100000" kx="0" ky="0" algn="bl" rotWithShape="0" blurRad="88900" dist="25400" dir="5400000">
              <a:srgbClr val="0B2545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19672" y="1655064"/>
            <a:ext cx="502920" cy="50292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15" name="Image 2" descr="/sessions/eager-wizardly-keller/mnt/outputs/build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1775765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59752" y="163677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Inheritance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6519672" y="2286000"/>
            <a:ext cx="4745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that mixes two or more inheritance types together in one class hierarchy.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519672" y="3108960"/>
            <a:ext cx="4745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Smartwatch combines a single-parent Fitness Tracker with multiple Phone + Bluetooth features.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519672" y="4023360"/>
            <a:ext cx="4745736" cy="2066544"/>
          </a:xfrm>
          <a:prstGeom prst="roundRect">
            <a:avLst>
              <a:gd name="adj" fmla="val 3982"/>
            </a:avLst>
          </a:prstGeom>
          <a:solidFill>
            <a:srgbClr val="0A1930"/>
          </a:solidFill>
          <a:ln/>
        </p:spPr>
      </p:sp>
      <p:sp>
        <p:nvSpPr>
          <p:cNvPr id="20" name="Text 15"/>
          <p:cNvSpPr/>
          <p:nvPr/>
        </p:nvSpPr>
        <p:spPr>
          <a:xfrm>
            <a:off x="6748272" y="4169664"/>
            <a:ext cx="42885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methodA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methodB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methodC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950" i="1" dirty="0">
                <a:solidFill>
                  <a:srgbClr val="7C9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hierarchical + multiple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10241280" y="777240"/>
            <a:ext cx="1051560" cy="105156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4" name="Image 0" descr="/sessions/eager-wizardly-keller/mnt/outputs/build/icons/sha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3654" y="102961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246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call, different behavior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sha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means “many forms” — the same method name behaves differently depending on the object calling it.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make the same call; each object decides how it actually responds.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you write one generic function that works across many different object types.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080760" y="1508760"/>
            <a:ext cx="544068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73368" y="1728216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73368" y="2039112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Payment Gateway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73368" y="2459736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e-commerce checkout calls pay() on whichever payment method the customer picked — one call, a different behavior for each.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73368" y="3593592"/>
            <a:ext cx="4855464" cy="2569464"/>
          </a:xfrm>
          <a:prstGeom prst="roundRect">
            <a:avLst>
              <a:gd name="adj" fmla="val 3203"/>
            </a:avLst>
          </a:prstGeom>
          <a:solidFill>
            <a:srgbClr val="0A1930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3739896"/>
            <a:ext cx="439826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CreditCardPayment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"Paid Rs.{amt} via Credit Card"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UPIPayment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"Paid Rs.{amt} via UPI"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CreditCardPayment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UPIPayment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(500)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10241280" y="777240"/>
            <a:ext cx="1051560" cy="105156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4" name="Image 0" descr="/sessions/eager-wizardly-keller/mnt/outputs/build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3654" y="102961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246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 wiring, expose only the buttons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bundles data together with the methods that operate on it, inside one class.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is hidden (private) — outside code can't reach in and touch it directly.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only allowed through controlled methods that the class chooses to expose.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080760" y="1508760"/>
            <a:ext cx="544068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73368" y="1728216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73368" y="2039112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 Bank Account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73368" y="2459736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balance lives locked inside the bank's system. You never edit it directly — only deposit or withdraw through the ATM's approved buttons.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73368" y="3593592"/>
            <a:ext cx="4855464" cy="2569464"/>
          </a:xfrm>
          <a:prstGeom prst="roundRect">
            <a:avLst>
              <a:gd name="adj" fmla="val 3203"/>
            </a:avLst>
          </a:prstGeom>
          <a:solidFill>
            <a:srgbClr val="0A1930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3739896"/>
            <a:ext cx="439826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BankAccount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__balance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i="1" dirty="0">
                <a:solidFill>
                  <a:srgbClr val="7C9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private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withdraw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__balance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__balance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"Insufficient funds"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BankAccount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withdraw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(300)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C9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acc.__balance -&gt; AttributeError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10241280" y="777240"/>
            <a:ext cx="1051560" cy="105156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4" name="Image 0" descr="/sessions/eager-wizardly-keller/mnt/outputs/build/icons/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3654" y="102961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246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what, hide the how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hides complex internal logic and exposes only a simple, essential interface.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enforces this with abstract classes (ABC) — a contract every subclass must fulfill.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only needs to know what a method does, never how it's built inside.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080760" y="1508760"/>
            <a:ext cx="544068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73368" y="1728216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73368" y="2039112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TV Remote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73368" y="2459736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remote guarantees a power_on() button. You press the same button on a Samsung or a Sony without ever seeing their internal circuits.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73368" y="3593592"/>
            <a:ext cx="4855464" cy="2569464"/>
          </a:xfrm>
          <a:prstGeom prst="roundRect">
            <a:avLst>
              <a:gd name="adj" fmla="val 3203"/>
            </a:avLst>
          </a:prstGeom>
          <a:solidFill>
            <a:srgbClr val="0A1930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3739896"/>
            <a:ext cx="439826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abstractmethod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RemoteControl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abstractmethod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power_on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SamsungTV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RemoteControl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power_on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"Samsung TV is now ON"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SonyTV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RemoteControl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power_on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"Sony TV is now ON"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10241280" y="777240"/>
            <a:ext cx="1051560" cy="105156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4" name="Image 0" descr="/sessions/eager-wizardly-keller/mnt/outputs/build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3654" y="102961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246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OOP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finer tools that make Python classes powerful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Overriding vs. Overloading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525780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6184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" y="194767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redefines a method it inherited, replacing the parent's version.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CreditCardPayment and UPIPayment both override the generic Payment.pay() with their own logic.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3566160"/>
            <a:ext cx="4709160" cy="2514600"/>
          </a:xfrm>
          <a:prstGeom prst="roundRect">
            <a:avLst>
              <a:gd name="adj" fmla="val 3273"/>
            </a:avLst>
          </a:prstGeom>
          <a:solidFill>
            <a:srgbClr val="0A1930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712464"/>
            <a:ext cx="425196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"Generic payment"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UPIPayment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050" i="1" dirty="0">
                <a:solidFill>
                  <a:srgbClr val="7C9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overridden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0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"Paid {amt} via UPI"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417320"/>
            <a:ext cx="525780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16184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37960" y="194767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 behaves differently based on how many arguments it gets. Python has no true overloading like Java — the latest definition wins, so we simulate it with defaults or *args.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37960" y="3154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Calculator.add() that adds 2, 3, or 10 numbers using *args.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37960" y="3566160"/>
            <a:ext cx="4709160" cy="2514600"/>
          </a:xfrm>
          <a:prstGeom prst="roundRect">
            <a:avLst>
              <a:gd name="adj" fmla="val 3273"/>
            </a:avLst>
          </a:prstGeom>
          <a:solidFill>
            <a:srgbClr val="0A1930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0" y="3712464"/>
            <a:ext cx="425196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3)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050" i="1" dirty="0">
                <a:solidFill>
                  <a:srgbClr val="7C9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4)</a:t>
            </a:r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i="1" dirty="0">
                <a:solidFill>
                  <a:srgbClr val="7C9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*args &amp; **kwargs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collects any number of extra positional arguments into a tuple.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collects any number of extra named arguments into a dictionary.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let one method flexibly handle a variable amount of input.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080760" y="1508760"/>
            <a:ext cx="544068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73368" y="1728216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73368" y="2039112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Multi-Channel Message Sender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73368" y="2459736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send() method handles an SMS (1 value), or an Email (2 values) — without writing separate methods for each channel.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73368" y="3593592"/>
            <a:ext cx="4855464" cy="2569464"/>
          </a:xfrm>
          <a:prstGeom prst="roundRect">
            <a:avLst>
              <a:gd name="adj" fmla="val 3203"/>
            </a:avLst>
          </a:prstGeom>
          <a:solidFill>
            <a:srgbClr val="0A1930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3739896"/>
            <a:ext cx="439826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MessageSender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"SMS to {args[0]}"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 to {args[0]}: {subject}"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MessageSender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"9876543210"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MessageSender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"a@b.com"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"Meeting Reminder"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decorator wraps a function to add extra behavior before or after it runs — without touching its original code.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placing @decorator_name directly above a function.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real uses: logging, timing, and login/authentication checks.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080760" y="1508760"/>
            <a:ext cx="544068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73368" y="1728216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73368" y="2039112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Delivery App — Login Check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73368" y="2459736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place_order() runs, a @require_login decorator silently checks you're signed in — the ordering logic itself never needs to know about login checks.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73368" y="3593592"/>
            <a:ext cx="4855464" cy="2569464"/>
          </a:xfrm>
          <a:prstGeom prst="roundRect">
            <a:avLst>
              <a:gd name="adj" fmla="val 3203"/>
            </a:avLst>
          </a:prstGeom>
          <a:solidFill>
            <a:srgbClr val="0A1930"/>
          </a:solidFill>
          <a:ln/>
        </p:spPr>
      </p:sp>
      <p:sp>
        <p:nvSpPr>
          <p:cNvPr id="12" name="Text 9"/>
          <p:cNvSpPr/>
          <p:nvPr/>
        </p:nvSpPr>
        <p:spPr>
          <a:xfrm>
            <a:off x="6601968" y="3739896"/>
            <a:ext cx="439826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require_login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"Checking login..."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require_login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place_order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 placed!"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place_order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Dunder Methods &amp; Access Modifiers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525780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6184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DUNDER (“MAGIC”) METHODS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" y="194767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Double-underscore methods like __str__ and __add__ let your objects plug into Python's built-in syntax (print, +, ==, etc.).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ShoppingCart with __add__ lets you merge two carts with cart1 + cart2, and __str__ makes print(cart) readable.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3703320"/>
            <a:ext cx="4709160" cy="2377440"/>
          </a:xfrm>
          <a:prstGeom prst="roundRect">
            <a:avLst>
              <a:gd name="adj" fmla="val 3462"/>
            </a:avLst>
          </a:prstGeom>
          <a:solidFill>
            <a:srgbClr val="0A1930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849624"/>
            <a:ext cx="42519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__add__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__str__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0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"Cart({self.items})"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1417320"/>
            <a:ext cx="5257800" cy="4892040"/>
          </a:xfrm>
          <a:prstGeom prst="roundRect">
            <a:avLst>
              <a:gd name="adj" fmla="val 112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16184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MODIFIERS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37960" y="19476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no enforced public/private keywords — only naming conventions: name (public), _name (protected, advisory), __name (private, name-mangled).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37960" y="30175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EmployeeRecord, name is public, _dept is protected, and __salary is private, reachable only via get_salary().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37960" y="3703320"/>
            <a:ext cx="4709160" cy="2377440"/>
          </a:xfrm>
          <a:prstGeom prst="roundRect">
            <a:avLst>
              <a:gd name="adj" fmla="val 3462"/>
            </a:avLst>
          </a:prstGeom>
          <a:solidFill>
            <a:srgbClr val="0A1930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0" y="3849624"/>
            <a:ext cx="42519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EmployeeRecord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_dept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__salary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get_salary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__salary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"/>
            <a:ext cx="658368" cy="658368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606064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976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Pillars at a Glance</a:t>
            </a:r>
            <a:endParaRPr lang="en-US" sz="2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66344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206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&amp; Object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 vs. the real thing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design vs. actual phones off the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reuses a parent's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traits passed down generations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Polymorphism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call, different behavior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pay() works across Credit Card, UPI, Wallet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 data, expose controlled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balance locked behind ATM buttons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 complexity, expose a simple contract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button powers on any TV remote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Tools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Overriding, *args, decorators, dunder, access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Flexible, powerful, real-world class design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Complete Guide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463040"/>
            <a:ext cx="1005840" cy="100584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3" name="Image 0" descr="/sessions/eager-wizardly-keller/mnt/outputs/build/ic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2" y="17044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788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188720" y="37033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Class, Inheritance, Polymorphism, Encapsulation or Abstraction?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in Python</dc:title>
  <dc:subject>PptxGenJS Presentation</dc:subject>
  <dc:creator>Uday</dc:creator>
  <cp:lastModifiedBy>Uday</cp:lastModifiedBy>
  <cp:revision>1</cp:revision>
  <dcterms:created xsi:type="dcterms:W3CDTF">2026-07-07T04:52:22Z</dcterms:created>
  <dcterms:modified xsi:type="dcterms:W3CDTF">2026-07-07T04:52:22Z</dcterms:modified>
</cp:coreProperties>
</file>